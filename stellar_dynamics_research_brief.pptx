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Test MSE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MLP</c:v>
                </c:pt>
                <c:pt idx="1">
                  <c:v>Transformer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0.1236</c:v>
                </c:pt>
                <c:pt idx="1">
                  <c:v>0.1417</c:v>
                </c:pt>
                <c:pt idx="2">
                  <c:v>0.0983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MAE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MLP</c:v>
                </c:pt>
                <c:pt idx="1">
                  <c:v>Transformer</c:v>
                </c:pt>
                <c:pt idx="2">
                  <c:v>XGBoost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0.2224</c:v>
                </c:pt>
                <c:pt idx="1">
                  <c:v>0.2447</c:v>
                </c:pt>
                <c:pt idx="2">
                  <c:v>0.2435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Linear SVM Acc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T=100</c:v>
                </c:pt>
                <c:pt idx="1">
                  <c:v>T=200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0.8083</c:v>
                </c:pt>
                <c:pt idx="1">
                  <c:v>0.842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1D-CNN Acc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T=100</c:v>
                </c:pt>
                <c:pt idx="1">
                  <c:v>T=200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0.8674</c:v>
                </c:pt>
                <c:pt idx="1">
                  <c:v>0.8886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Attention Acc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T=100</c:v>
                </c:pt>
                <c:pt idx="1">
                  <c:v>T=200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0.867</c:v>
                </c:pt>
                <c:pt idx="1">
                  <c:v>0.8974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6"/>
          <c:min val="0.75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Stellar Dynamics Stability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2DDFF"/>
                </a:solidFill>
              </a:defRPr>
            </a:pPr>
            <a:r>
              <a:t>Research Brief based on current README.md project definition and baseline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10972800" cy="3474720"/>
          </a:xfrm>
          <a:prstGeom prst="roundRect">
            <a:avLst/>
          </a:prstGeom>
          <a:solidFill>
            <a:srgbClr val="163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1089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Goal: predict long-term orbital stability from initial conditions and early trajectories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Task A: probabilistic outcome over perturbation 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Task B: early prefix to binary stable/unstable 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0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E293B"/>
                </a:solidFill>
              </a:defRPr>
            </a:pPr>
            <a:r>
              <a:t>Project Scope and Core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Two complementary prediction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394960" cy="411480"/>
          </a:xfrm>
          <a:prstGeom prst="rect">
            <a:avLst/>
          </a:prstGeom>
          <a:solidFill>
            <a:srgbClr val="E2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2040"/>
                </a:solidFill>
              </a:defRPr>
            </a:pPr>
            <a:r>
              <a:t>Task A: Distribution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4983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Input: initial condition with 8 perturbed trajectories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Output: P(stable), P(unstable)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Target from empirical count across perturbations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Captures uncertainty under same physical setup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212080" cy="411480"/>
          </a:xfrm>
          <a:prstGeom prst="rect">
            <a:avLst/>
          </a:prstGeom>
          <a:solidFill>
            <a:srgbClr val="E2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92807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2040"/>
                </a:solidFill>
              </a:defRPr>
            </a:pPr>
            <a:r>
              <a:t>Task B: Prefix-to-Label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31720"/>
            <a:ext cx="4800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Input: initial condition + early trajectory prefix (e.g., T=100)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Output: single binary class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Label rule: stable if time_unbound == 5000, else unstable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Focus: early warning of long-term divergence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0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E293B"/>
                </a:solidFill>
              </a:defRPr>
            </a:pPr>
            <a:r>
              <a:t>Data Assets and Suggested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Case-level and perturbation-level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840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840480" cy="411480"/>
          </a:xfrm>
          <a:prstGeom prst="rect">
            <a:avLst/>
          </a:prstGeom>
          <a:solidFill>
            <a:srgbClr val="E2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2040"/>
                </a:solidFill>
              </a:defRPr>
            </a:pPr>
            <a:r>
              <a:t>Initial Conditions (ICs)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3429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File: dataset/ICs_sampling_0.hdf5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Scale: 40,000 samples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Static orbital/physical features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Examples: aratios, mratios, eccs, incs, APs, LANs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828800"/>
            <a:ext cx="3840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828800"/>
            <a:ext cx="3840480" cy="411480"/>
          </a:xfrm>
          <a:prstGeom prst="rect">
            <a:avLst/>
          </a:prstGeom>
          <a:solidFill>
            <a:srgbClr val="E2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892807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2040"/>
                </a:solidFill>
              </a:defRPr>
            </a:pPr>
            <a:r>
              <a:t>Time-Series Trajectories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331720"/>
            <a:ext cx="3429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File: "restults_batch_sampling_0.hdf5"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Scale: 8,000 trajectories x 1,001 steps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Temporal evolution of orbital quantities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Includes positions, velocities, energy, momentum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1828800"/>
            <a:ext cx="26517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78240" y="1828800"/>
            <a:ext cx="2651760" cy="411480"/>
          </a:xfrm>
          <a:prstGeom prst="rect">
            <a:avLst/>
          </a:prstGeom>
          <a:solidFill>
            <a:srgbClr val="E2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19" y="1892807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2040"/>
                </a:solidFill>
              </a:defRPr>
            </a:pPr>
            <a:r>
              <a:t>Indexing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331720"/>
            <a:ext cx="224027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case_id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perturb_id (0-7)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x0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trajectory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time_unbound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diagnosis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0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E293B"/>
                </a:solidFill>
              </a:defRPr>
            </a:pPr>
            <a:r>
              <a:t>Feature Engineering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Improving periodic feature representation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486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737360"/>
            <a:ext cx="50749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</a:defRPr>
            </a:pPr>
            <a:r>
              <a:t>Periodic angles handled with trig transform:</a:t>
            </a:r>
          </a:p>
          <a:p>
            <a:pPr>
              <a:spcAft>
                <a:spcPts val="400"/>
              </a:spcAft>
              <a:defRPr sz="1400" b="0">
                <a:solidFill>
                  <a:srgbClr val="1E293B"/>
                </a:solidFill>
              </a:defRPr>
            </a:pPr>
            <a:r>
              <a:t>- APs -&gt; sin(APs), cos(APs)</a:t>
            </a:r>
          </a:p>
          <a:p>
            <a:pPr>
              <a:spcAft>
                <a:spcPts val="400"/>
              </a:spcAft>
              <a:defRPr sz="1400" b="0">
                <a:solidFill>
                  <a:srgbClr val="1E293B"/>
                </a:solidFill>
              </a:defRPr>
            </a:pPr>
            <a:r>
              <a:t>- LANs -&gt; sin(LANs), cos(LANs)</a:t>
            </a:r>
          </a:p>
          <a:p>
            <a:pPr>
              <a:spcAft>
                <a:spcPts val="400"/>
              </a:spcAft>
              <a:defRPr sz="1400" b="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1E293B"/>
                </a:solidFill>
              </a:defRPr>
            </a:pPr>
            <a:r>
              <a:t>Rationale:</a:t>
            </a:r>
          </a:p>
          <a:p>
            <a:pPr>
              <a:spcAft>
                <a:spcPts val="400"/>
              </a:spcAft>
              <a:defRPr sz="1400" b="0">
                <a:solidFill>
                  <a:srgbClr val="1E293B"/>
                </a:solidFill>
              </a:defRPr>
            </a:pPr>
            <a:r>
              <a:t>- Preserves circular continuity (0 approx 2*pi)</a:t>
            </a:r>
          </a:p>
          <a:p>
            <a:pPr>
              <a:spcAft>
                <a:spcPts val="400"/>
              </a:spcAft>
              <a:defRPr sz="1400" b="0">
                <a:solidFill>
                  <a:srgbClr val="1E293B"/>
                </a:solidFill>
              </a:defRPr>
            </a:pPr>
            <a:r>
              <a:t>- Prevents false distance jumps at wrap-around</a:t>
            </a:r>
          </a:p>
          <a:p>
            <a:pPr>
              <a:spcAft>
                <a:spcPts val="400"/>
              </a:spcAft>
              <a:defRPr sz="1400" b="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1E293B"/>
                </a:solidFill>
              </a:defRPr>
            </a:pPr>
            <a:r>
              <a:t>Inclinations:</a:t>
            </a:r>
          </a:p>
          <a:p>
            <a:pPr>
              <a:spcAft>
                <a:spcPts val="400"/>
              </a:spcAft>
              <a:defRPr sz="1400" b="0">
                <a:solidFill>
                  <a:srgbClr val="1E293B"/>
                </a:solidFill>
              </a:defRPr>
            </a:pPr>
            <a:r>
              <a:t>- Keep raw incs or use cos(incs)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011680"/>
            <a:ext cx="4526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0F2040"/>
                </a:solidFill>
              </a:defRPr>
            </a:pPr>
            <a:r>
              <a:t>Final feature count: 15 parameters</a:t>
            </a:r>
          </a:p>
          <a:p>
            <a:pPr>
              <a:spcAft>
                <a:spcPts val="300"/>
              </a:spcAft>
              <a:defRPr sz="1400" b="0">
                <a:solidFill>
                  <a:srgbClr val="1E293B"/>
                </a:solidFill>
              </a:defRPr>
            </a:pPr>
            <a:r>
              <a:t>2 aratios</a:t>
            </a:r>
          </a:p>
          <a:p>
            <a:pPr>
              <a:spcAft>
                <a:spcPts val="300"/>
              </a:spcAft>
              <a:defRPr sz="1400" b="0">
                <a:solidFill>
                  <a:srgbClr val="1E293B"/>
                </a:solidFill>
              </a:defRPr>
            </a:pPr>
            <a:r>
              <a:t>1 mratios</a:t>
            </a:r>
          </a:p>
          <a:p>
            <a:pPr>
              <a:spcAft>
                <a:spcPts val="300"/>
              </a:spcAft>
              <a:defRPr sz="1400" b="0">
                <a:solidFill>
                  <a:srgbClr val="1E293B"/>
                </a:solidFill>
              </a:defRPr>
            </a:pPr>
            <a:r>
              <a:t>2 eccs</a:t>
            </a:r>
          </a:p>
          <a:p>
            <a:pPr>
              <a:spcAft>
                <a:spcPts val="300"/>
              </a:spcAft>
              <a:defRPr sz="1400" b="0">
                <a:solidFill>
                  <a:srgbClr val="1E293B"/>
                </a:solidFill>
              </a:defRPr>
            </a:pPr>
            <a:r>
              <a:t>2 incs or cos(incs)</a:t>
            </a:r>
          </a:p>
          <a:p>
            <a:pPr>
              <a:spcAft>
                <a:spcPts val="300"/>
              </a:spcAft>
              <a:defRPr sz="1400" b="0">
                <a:solidFill>
                  <a:srgbClr val="1E293B"/>
                </a:solidFill>
              </a:defRPr>
            </a:pPr>
            <a:r>
              <a:t>2 sin(APs)</a:t>
            </a:r>
          </a:p>
          <a:p>
            <a:pPr>
              <a:spcAft>
                <a:spcPts val="300"/>
              </a:spcAft>
              <a:defRPr sz="1400" b="0">
                <a:solidFill>
                  <a:srgbClr val="1E293B"/>
                </a:solidFill>
              </a:defRPr>
            </a:pPr>
            <a:r>
              <a:t>2 cos(APs)</a:t>
            </a:r>
          </a:p>
          <a:p>
            <a:pPr>
              <a:spcAft>
                <a:spcPts val="300"/>
              </a:spcAft>
              <a:defRPr sz="1400" b="0">
                <a:solidFill>
                  <a:srgbClr val="1E293B"/>
                </a:solidFill>
              </a:defRPr>
            </a:pPr>
            <a:r>
              <a:t>2 sin(LANs)</a:t>
            </a:r>
          </a:p>
          <a:p>
            <a:pPr>
              <a:spcAft>
                <a:spcPts val="300"/>
              </a:spcAft>
              <a:defRPr sz="1400" b="0">
                <a:solidFill>
                  <a:srgbClr val="1E293B"/>
                </a:solidFill>
              </a:defRPr>
            </a:pPr>
            <a:r>
              <a:t>2 cos(LANs)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0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E293B"/>
                </a:solidFill>
              </a:defRPr>
            </a:pPr>
            <a:r>
              <a:t>Label Construction and Training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Aligned labels for probabilistic and binary settings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486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486400" cy="411480"/>
          </a:xfrm>
          <a:prstGeom prst="rect">
            <a:avLst/>
          </a:prstGeom>
          <a:solidFill>
            <a:srgbClr val="E2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2040"/>
                </a:solidFill>
              </a:defRPr>
            </a:pPr>
            <a:r>
              <a:t>Task A Labels (per case_id)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5074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Aggregate 8 perturbation outcomes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p_stable = n_stable / 8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p_diverge = 1 - p_stable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Train with KL/Cross-Entropy or soft-target regression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029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5029200" cy="411480"/>
          </a:xfrm>
          <a:prstGeom prst="rect">
            <a:avLst/>
          </a:prstGeom>
          <a:solidFill>
            <a:srgbClr val="E2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92807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2040"/>
                </a:solidFill>
              </a:defRPr>
            </a:pPr>
            <a:r>
              <a:t>Task B Labels (per sample)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331720"/>
            <a:ext cx="4617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y = 1 if time_unbound == 5000 (stable)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y = 0 otherwise (unstable)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Use only trajectory prefix [0:T]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T tested at 100, 200, 500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0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E293B"/>
                </a:solidFill>
              </a:defRPr>
            </a:pPr>
            <a:r>
              <a:t>Baseline Results: Task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Generalization gap indicates overfitting risk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828800"/>
          <a:ext cx="64008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06640" y="1828800"/>
            <a:ext cx="40233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2057400"/>
            <a:ext cx="36118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0F2040"/>
                </a:solidFill>
              </a:defRPr>
            </a:pPr>
            <a:r>
              <a:t>Observed Patterns</a:t>
            </a:r>
          </a:p>
          <a:p>
            <a:pPr>
              <a:spcAft>
                <a:spcPts val="300"/>
              </a:spcAft>
              <a:defRPr sz="1400" b="0">
                <a:solidFill>
                  <a:srgbClr val="1E293B"/>
                </a:solidFill>
              </a:defRPr>
            </a:pPr>
            <a:r>
              <a:t>- XGBoost has strongest test MSE</a:t>
            </a:r>
          </a:p>
          <a:p>
            <a:pPr>
              <a:spcAft>
                <a:spcPts val="300"/>
              </a:spcAft>
              <a:defRPr sz="1400" b="0">
                <a:solidFill>
                  <a:srgbClr val="1E293B"/>
                </a:solidFill>
              </a:defRPr>
            </a:pPr>
            <a:r>
              <a:t>- MLP and Transformer degrade by epoch 200</a:t>
            </a:r>
          </a:p>
          <a:p>
            <a:pPr>
              <a:spcAft>
                <a:spcPts val="300"/>
              </a:spcAft>
              <a:defRPr sz="1400" b="0">
                <a:solidFill>
                  <a:srgbClr val="1E293B"/>
                </a:solidFill>
              </a:defRPr>
            </a:pPr>
            <a:r>
              <a:t>- Train-vs-test gap is substantial</a:t>
            </a:r>
          </a:p>
          <a:p>
            <a:pPr>
              <a:spcAft>
                <a:spcPts val="300"/>
              </a:spcAft>
              <a:defRPr sz="1400" b="0">
                <a:solidFill>
                  <a:srgbClr val="1E293B"/>
                </a:solidFill>
              </a:defRPr>
            </a:pPr>
          </a:p>
          <a:p>
            <a:pPr>
              <a:spcAft>
                <a:spcPts val="300"/>
              </a:spcAft>
              <a:defRPr sz="1600" b="1">
                <a:solidFill>
                  <a:srgbClr val="0F2040"/>
                </a:solidFill>
              </a:defRPr>
            </a:pPr>
            <a:r>
              <a:t>Implication</a:t>
            </a:r>
          </a:p>
          <a:p>
            <a:pPr>
              <a:spcAft>
                <a:spcPts val="300"/>
              </a:spcAft>
              <a:defRPr sz="1400" b="0">
                <a:solidFill>
                  <a:srgbClr val="1E293B"/>
                </a:solidFill>
              </a:defRPr>
            </a:pPr>
            <a:r>
              <a:t>Prioritize regularization and split strategy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0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E293B"/>
                </a:solidFill>
              </a:defRPr>
            </a:pPr>
            <a:r>
              <a:t>Baseline Results: Task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Performance improves with longer trajectory prefix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828800"/>
          <a:ext cx="66751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35240" y="1828800"/>
            <a:ext cx="3657600" cy="1828800"/>
          </a:xfrm>
          <a:prstGeom prst="roundRect">
            <a:avLst/>
          </a:prstGeom>
          <a:solidFill>
            <a:srgbClr val="EB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2011680"/>
            <a:ext cx="3200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040"/>
                </a:solidFill>
              </a:defRPr>
            </a:pPr>
            <a:r>
              <a:t>Best observed at T=500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Attention: AUC 0.9783 | F1 0.9210 | Acc 0.9410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1D-CNN: AUC 0.9783 | F1 0.9087 | Acc 0.9308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3794760"/>
            <a:ext cx="36576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3977639"/>
            <a:ext cx="32918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0F2040"/>
                </a:solidFill>
              </a:defRPr>
            </a:pPr>
            <a:r>
              <a:t>Takeaways</a:t>
            </a:r>
          </a:p>
          <a:p>
            <a:pPr>
              <a:spcAft>
                <a:spcPts val="300"/>
              </a:spcAft>
              <a:defRPr sz="1300" b="0">
                <a:solidFill>
                  <a:srgbClr val="1E293B"/>
                </a:solidFill>
              </a:defRPr>
            </a:pPr>
            <a:r>
              <a:t>- Prefix length strongly affects outcome confidence</a:t>
            </a:r>
          </a:p>
          <a:p>
            <a:pPr>
              <a:spcAft>
                <a:spcPts val="300"/>
              </a:spcAft>
              <a:defRPr sz="1300" b="0">
                <a:solidFill>
                  <a:srgbClr val="1E293B"/>
                </a:solidFill>
              </a:defRPr>
            </a:pPr>
            <a:r>
              <a:t>- Deep sequence models outperform linear baselines</a:t>
            </a:r>
          </a:p>
          <a:p>
            <a:pPr>
              <a:spcAft>
                <a:spcPts val="300"/>
              </a:spcAft>
              <a:defRPr sz="1300" b="0">
                <a:solidFill>
                  <a:srgbClr val="1E293B"/>
                </a:solidFill>
              </a:defRPr>
            </a:pPr>
            <a:r>
              <a:t>- T=200 already gives a strong tradeoff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0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E293B"/>
                </a:solidFill>
              </a:defRPr>
            </a:pPr>
            <a:r>
              <a:t>Recommended Next Research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Execution priorities for the next iteration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645920"/>
            <a:ext cx="347472" cy="347472"/>
          </a:xfrm>
          <a:prstGeom prst="ellipse">
            <a:avLst/>
          </a:prstGeom>
          <a:solidFill>
            <a:srgbClr val="00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6002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2040"/>
                </a:solidFill>
              </a:defRPr>
            </a:pPr>
            <a:r>
              <a:t>1. Data Integrity Pass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Confirm case/perturb mapping and fix file naming inconsistencies before training.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633472"/>
            <a:ext cx="347472" cy="347472"/>
          </a:xfrm>
          <a:prstGeom prst="ellipse">
            <a:avLst/>
          </a:prstGeom>
          <a:solidFill>
            <a:srgbClr val="00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587752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2040"/>
                </a:solidFill>
              </a:defRPr>
            </a:pPr>
            <a:r>
              <a:t>2. Evaluation Protocol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Use case-level split to prevent leakage across perturbations.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621024"/>
            <a:ext cx="347472" cy="347472"/>
          </a:xfrm>
          <a:prstGeom prst="ellipse">
            <a:avLst/>
          </a:prstGeom>
          <a:solidFill>
            <a:srgbClr val="00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575304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2040"/>
                </a:solidFill>
              </a:defRPr>
            </a:pPr>
            <a:r>
              <a:t>3. Task A Modeling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Calibrated probabilistic models + uncertainty-aware loss and regularization.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608576"/>
            <a:ext cx="347472" cy="347472"/>
          </a:xfrm>
          <a:prstGeom prst="ellipse">
            <a:avLst/>
          </a:prstGeom>
          <a:solidFill>
            <a:srgbClr val="00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562856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2040"/>
                </a:solidFill>
              </a:defRPr>
            </a:pPr>
            <a:r>
              <a:t>4. Task B Modeling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Benchmark at T=100/200/500 with consistent metrics and ablations.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5596128"/>
            <a:ext cx="347472" cy="347472"/>
          </a:xfrm>
          <a:prstGeom prst="ellipse">
            <a:avLst/>
          </a:prstGeom>
          <a:solidFill>
            <a:srgbClr val="00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5550408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0F2040"/>
                </a:solidFill>
              </a:defRPr>
            </a:pPr>
            <a:r>
              <a:t>5. Deliverables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Prepare reproducible training scripts and an updated result table by model/task.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2DDFF"/>
                </a:solidFill>
              </a:defRPr>
            </a:pPr>
            <a:r>
              <a:t>Current status and decision 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4206240"/>
          </a:xfrm>
          <a:prstGeom prst="roundRect">
            <a:avLst/>
          </a:prstGeom>
          <a:solidFill>
            <a:srgbClr val="163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012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The project is well-scoped around two useful prediction tasks: distributional uncertainty and early classification.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Existing baselines already show strong signal, especially for sequence models in Task B.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Main bottleneck is robust generalization and reproducible evaluation at the case level.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Next milestone: standardized data pipeline + regularized models + consolidated benchmark 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